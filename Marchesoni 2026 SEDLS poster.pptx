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51206400" cy="2926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8"/>
    <p:restoredTop sz="96376"/>
  </p:normalViewPr>
  <p:slideViewPr>
    <p:cSldViewPr snapToGrid="0">
      <p:cViewPr>
        <p:scale>
          <a:sx n="35" d="100"/>
          <a:sy n="35" d="100"/>
        </p:scale>
        <p:origin x="-304" y="-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1AAC4-DB98-7B47-A540-8EE1623DB6E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ACC53-18B7-4C4E-B145-AE038B002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38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ACC53-18B7-4C4E-B145-AE038B0025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6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788749"/>
            <a:ext cx="38404800" cy="10187093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5368695"/>
            <a:ext cx="38404800" cy="7064585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3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5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7294884"/>
            <a:ext cx="44165520" cy="12171678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9581711"/>
            <a:ext cx="44165520" cy="6400798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>
                    <a:tint val="82000"/>
                  </a:schemeClr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82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82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789333"/>
            <a:ext cx="2176272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789333"/>
            <a:ext cx="2176272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4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557869"/>
            <a:ext cx="44165520" cy="56557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7172962"/>
            <a:ext cx="21662705" cy="351535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0688320"/>
            <a:ext cx="21662705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7172962"/>
            <a:ext cx="21769390" cy="351535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0688320"/>
            <a:ext cx="21769390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3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0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50720"/>
            <a:ext cx="16515395" cy="68275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4213016"/>
            <a:ext cx="25923240" cy="20794133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778240"/>
            <a:ext cx="16515395" cy="16262775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93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50720"/>
            <a:ext cx="16515395" cy="68275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4213016"/>
            <a:ext cx="25923240" cy="20794133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778240"/>
            <a:ext cx="16515395" cy="16262775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0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4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557867"/>
            <a:ext cx="11041380" cy="2479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557867"/>
            <a:ext cx="32484060" cy="2479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0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557869"/>
            <a:ext cx="44165520" cy="5655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789333"/>
            <a:ext cx="44165520" cy="18565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7120429"/>
            <a:ext cx="1152144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EE842-F6DD-F542-92DF-2ED5662E1EB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7120429"/>
            <a:ext cx="1728216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7120429"/>
            <a:ext cx="1152144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CD8A3-D50B-CB4D-B2EA-EB64CB167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5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b="1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hyperlink" Target="https://bit.ly/wfu-fs-gh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hyperlink" Target="mailto:marchej@wfu.edu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A5AA96B-41AF-56B9-3FB6-4A8E6DA70E89}"/>
              </a:ext>
            </a:extLst>
          </p:cNvPr>
          <p:cNvGrpSpPr/>
          <p:nvPr/>
        </p:nvGrpSpPr>
        <p:grpSpPr>
          <a:xfrm>
            <a:off x="40028491" y="23233645"/>
            <a:ext cx="7918011" cy="5286349"/>
            <a:chOff x="3357563" y="1385888"/>
            <a:chExt cx="10501312" cy="5272087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C30D618-0062-05BD-E7DF-3A0028D4929D}"/>
                </a:ext>
              </a:extLst>
            </p:cNvPr>
            <p:cNvSpPr/>
            <p:nvPr/>
          </p:nvSpPr>
          <p:spPr>
            <a:xfrm>
              <a:off x="3357563" y="1385888"/>
              <a:ext cx="10501312" cy="52720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5219F6-FF61-A4DB-58BD-BC924CDA96FF}"/>
                </a:ext>
              </a:extLst>
            </p:cNvPr>
            <p:cNvSpPr txBox="1"/>
            <p:nvPr/>
          </p:nvSpPr>
          <p:spPr>
            <a:xfrm>
              <a:off x="3869075" y="1789692"/>
              <a:ext cx="98458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Lessons learned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503E948-D558-EC84-0237-0EB6F4971FAF}"/>
              </a:ext>
            </a:extLst>
          </p:cNvPr>
          <p:cNvSpPr/>
          <p:nvPr/>
        </p:nvSpPr>
        <p:spPr>
          <a:xfrm>
            <a:off x="0" y="0"/>
            <a:ext cx="1907177" cy="2926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B0322-60FE-300D-17F4-68638B692B48}"/>
              </a:ext>
            </a:extLst>
          </p:cNvPr>
          <p:cNvSpPr/>
          <p:nvPr/>
        </p:nvSpPr>
        <p:spPr>
          <a:xfrm>
            <a:off x="49299223" y="0"/>
            <a:ext cx="1907177" cy="2926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23094F-8B03-3D8F-1A57-75B26B045B00}"/>
              </a:ext>
            </a:extLst>
          </p:cNvPr>
          <p:cNvGrpSpPr/>
          <p:nvPr/>
        </p:nvGrpSpPr>
        <p:grpSpPr>
          <a:xfrm>
            <a:off x="3300412" y="14854113"/>
            <a:ext cx="10501312" cy="5272087"/>
            <a:chOff x="3357563" y="1385888"/>
            <a:chExt cx="10501312" cy="527208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13D37E-8D14-7907-D4CD-F0B0779F5BBF}"/>
                </a:ext>
              </a:extLst>
            </p:cNvPr>
            <p:cNvSpPr/>
            <p:nvPr/>
          </p:nvSpPr>
          <p:spPr>
            <a:xfrm>
              <a:off x="3357563" y="1385888"/>
              <a:ext cx="10501312" cy="52720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C02D47-E8B5-E9B8-6DD4-5D2D8D783516}"/>
                </a:ext>
              </a:extLst>
            </p:cNvPr>
            <p:cNvSpPr txBox="1"/>
            <p:nvPr/>
          </p:nvSpPr>
          <p:spPr>
            <a:xfrm>
              <a:off x="3825587" y="2875899"/>
              <a:ext cx="9565264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As the first Data Services Librarian at ZSR, I conducted a needs assessment to design our brand-new services for faculty support across many disciplines. With input from my department, I designed and ran a mixed-methods faculty research services survey delivered to campus faculty in Summer 2025. The survey provided us with a rich illustration of where faculty need support and kept service scoping and prioritization responsive to demonstrated needs. I created reports to share the results with my department, library directors, and the library as a whole. In this talk, I will discuss how we determined the survey questions and the tools we chose (Qualtrics, MaxQDA, and R), and how the assessment results informed our strategy for the following year. I will also share some of the materials from the process to help illustrate how to conduct a similar assessment at other institutions.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5D95E8-CD7F-AC01-38D7-E6BB3258458B}"/>
                </a:ext>
              </a:extLst>
            </p:cNvPr>
            <p:cNvSpPr txBox="1"/>
            <p:nvPr/>
          </p:nvSpPr>
          <p:spPr>
            <a:xfrm>
              <a:off x="3879274" y="1715395"/>
              <a:ext cx="33250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Abstract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CE79C19-88BC-40F2-B861-80E80077FB64}"/>
              </a:ext>
            </a:extLst>
          </p:cNvPr>
          <p:cNvSpPr/>
          <p:nvPr/>
        </p:nvSpPr>
        <p:spPr>
          <a:xfrm>
            <a:off x="3300413" y="882650"/>
            <a:ext cx="10501312" cy="61777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B5896-B2C7-86CB-68FA-E37E87936CA7}"/>
              </a:ext>
            </a:extLst>
          </p:cNvPr>
          <p:cNvSpPr txBox="1"/>
          <p:nvPr/>
        </p:nvSpPr>
        <p:spPr>
          <a:xfrm>
            <a:off x="3768437" y="1065447"/>
            <a:ext cx="956526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Establishing responsive data services</a:t>
            </a:r>
            <a:r>
              <a:rPr lang="en-US" sz="5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US" sz="5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5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Conducting a data services needs assessment for university faculty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DB8691-B666-A8AC-DAE7-F258F1779D39}"/>
              </a:ext>
            </a:extLst>
          </p:cNvPr>
          <p:cNvCxnSpPr>
            <a:cxnSpLocks/>
          </p:cNvCxnSpPr>
          <p:nvPr/>
        </p:nvCxnSpPr>
        <p:spPr>
          <a:xfrm>
            <a:off x="3768436" y="4892727"/>
            <a:ext cx="951157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B4488D-5D0E-3D78-D841-C2EDE3BC7FDC}"/>
              </a:ext>
            </a:extLst>
          </p:cNvPr>
          <p:cNvGrpSpPr/>
          <p:nvPr/>
        </p:nvGrpSpPr>
        <p:grpSpPr>
          <a:xfrm>
            <a:off x="7046560" y="5093696"/>
            <a:ext cx="6478040" cy="1425989"/>
            <a:chOff x="8151127" y="6321314"/>
            <a:chExt cx="5182574" cy="114082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7E17678-8D89-73CA-6130-7AEC65E7E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2574" y="6321314"/>
              <a:ext cx="4161127" cy="1140822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3234068-28B4-F55B-3761-8AF6C0923DDE}"/>
                </a:ext>
              </a:extLst>
            </p:cNvPr>
            <p:cNvGrpSpPr/>
            <p:nvPr/>
          </p:nvGrpSpPr>
          <p:grpSpPr>
            <a:xfrm>
              <a:off x="8151127" y="6382495"/>
              <a:ext cx="1021447" cy="1018462"/>
              <a:chOff x="8197341" y="6380470"/>
              <a:chExt cx="1021447" cy="1018462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8531D9-A798-CCF7-65D4-9AF2E8B3ED75}"/>
                  </a:ext>
                </a:extLst>
              </p:cNvPr>
              <p:cNvSpPr/>
              <p:nvPr/>
            </p:nvSpPr>
            <p:spPr>
              <a:xfrm>
                <a:off x="8197341" y="6380470"/>
                <a:ext cx="1021447" cy="1014411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01EEDE8-8E8F-CD03-39F4-DF5E13A16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97343" y="6384521"/>
                <a:ext cx="1014410" cy="1014411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AC095B2-56E5-08AD-449B-F427BB6649DD}"/>
              </a:ext>
            </a:extLst>
          </p:cNvPr>
          <p:cNvSpPr txBox="1"/>
          <p:nvPr/>
        </p:nvSpPr>
        <p:spPr>
          <a:xfrm>
            <a:off x="3816405" y="5091200"/>
            <a:ext cx="30212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Joddy Marchesoni</a:t>
            </a:r>
          </a:p>
          <a:p>
            <a:pPr>
              <a:spcAft>
                <a:spcPts val="600"/>
              </a:spcAft>
            </a:pPr>
            <a:r>
              <a:rPr lang="en-US" sz="22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Services Librarian</a:t>
            </a:r>
          </a:p>
          <a:p>
            <a:pPr>
              <a:spcAft>
                <a:spcPts val="600"/>
              </a:spcAft>
            </a:pPr>
            <a:r>
              <a:rPr lang="en-US" sz="2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marchej@wfu.edu</a:t>
            </a:r>
            <a:endParaRPr lang="en-US" sz="220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F765B95-2116-8706-6B02-B7E0289BA86A}"/>
              </a:ext>
            </a:extLst>
          </p:cNvPr>
          <p:cNvGrpSpPr/>
          <p:nvPr/>
        </p:nvGrpSpPr>
        <p:grpSpPr>
          <a:xfrm>
            <a:off x="9040079" y="7392442"/>
            <a:ext cx="4761646" cy="7014246"/>
            <a:chOff x="3300413" y="7616154"/>
            <a:chExt cx="5291899" cy="701424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44FD3D-3195-8EBE-74F9-FE50777201A3}"/>
                </a:ext>
              </a:extLst>
            </p:cNvPr>
            <p:cNvSpPr/>
            <p:nvPr/>
          </p:nvSpPr>
          <p:spPr>
            <a:xfrm>
              <a:off x="3300413" y="7616154"/>
              <a:ext cx="5291899" cy="701424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C5BA50A-C427-10D3-D9A1-45A26CDAF1AC}"/>
                </a:ext>
              </a:extLst>
            </p:cNvPr>
            <p:cNvSpPr txBox="1"/>
            <p:nvPr/>
          </p:nvSpPr>
          <p:spPr>
            <a:xfrm>
              <a:off x="3600898" y="7890387"/>
              <a:ext cx="4731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Software tools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151DC47-17A5-E077-D304-4F9D7E42FE05}"/>
                </a:ext>
              </a:extLst>
            </p:cNvPr>
            <p:cNvSpPr txBox="1"/>
            <p:nvPr/>
          </p:nvSpPr>
          <p:spPr>
            <a:xfrm>
              <a:off x="3600897" y="8807275"/>
              <a:ext cx="4731942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Qualtrics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platform for mixed mothods survey design and distribution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and </a:t>
              </a: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Rstudio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for quantitative data analysis &amp; visualization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Tidyverse</a:t>
              </a:r>
              <a:r>
                <a:rPr lang="en-US" sz="2000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packages for data preparation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qualtRics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package for accessing Qualtrics data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gt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package for tables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treemapify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for treemap visualizations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MaxQDA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to code qualitative data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Quarto in Rstudio</a:t>
              </a:r>
              <a:r>
                <a:rPr lang="en-US" sz="2000" b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for generating reports with text, tables, and charts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Export to HTML, PDF, Word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Github</a:t>
              </a:r>
              <a:r>
                <a:rPr lang="en-US" sz="2000" i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for hosting project code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E286D3-0DE5-19FB-7FE1-281D4982EE0E}"/>
              </a:ext>
            </a:extLst>
          </p:cNvPr>
          <p:cNvGrpSpPr/>
          <p:nvPr/>
        </p:nvGrpSpPr>
        <p:grpSpPr>
          <a:xfrm>
            <a:off x="3300412" y="7392442"/>
            <a:ext cx="5291899" cy="7014246"/>
            <a:chOff x="3300413" y="7616154"/>
            <a:chExt cx="5291899" cy="701424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B30A7C2-35C4-C157-26FE-BEBAFCCF0655}"/>
                </a:ext>
              </a:extLst>
            </p:cNvPr>
            <p:cNvSpPr/>
            <p:nvPr/>
          </p:nvSpPr>
          <p:spPr>
            <a:xfrm>
              <a:off x="3300413" y="7616154"/>
              <a:ext cx="5291899" cy="701424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65AED0-45FC-75DF-89FA-6B65B2EA9977}"/>
                </a:ext>
              </a:extLst>
            </p:cNvPr>
            <p:cNvSpPr txBox="1"/>
            <p:nvPr/>
          </p:nvSpPr>
          <p:spPr>
            <a:xfrm>
              <a:off x="3600898" y="7890387"/>
              <a:ext cx="33250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Takeaways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57B59F-659B-C628-47E9-1DE5253E493F}"/>
                </a:ext>
              </a:extLst>
            </p:cNvPr>
            <p:cNvSpPr txBox="1"/>
            <p:nvPr/>
          </p:nvSpPr>
          <p:spPr>
            <a:xfrm>
              <a:off x="3600897" y="8891261"/>
              <a:ext cx="4731942" cy="5324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How do you discover what faculty at your institution need from your department? </a:t>
              </a:r>
              <a:r>
                <a:rPr lang="en-US" sz="2000" b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Ask them!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Our approach involved using data analysis skills (R and MaxQDA), but built-in tools work great for simpler survey designs!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b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Design your survey carefully </a:t>
              </a: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– you can’t go back and change it once the survey begins.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Develop a communication plan before distributing the survey. Know who your stakeholders are and get their input throughout the process.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Tables and charts are great for telling a story. Keep the visuals consistent across questions.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4C76E8-7CD1-BBFD-FC4E-AEF45C334176}"/>
              </a:ext>
            </a:extLst>
          </p:cNvPr>
          <p:cNvGrpSpPr/>
          <p:nvPr/>
        </p:nvGrpSpPr>
        <p:grpSpPr>
          <a:xfrm>
            <a:off x="3300412" y="20573625"/>
            <a:ext cx="10501312" cy="7946369"/>
            <a:chOff x="3357563" y="1385888"/>
            <a:chExt cx="10501312" cy="52720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7A89B47-5AC3-584C-ACA1-6DF963814141}"/>
                </a:ext>
              </a:extLst>
            </p:cNvPr>
            <p:cNvSpPr/>
            <p:nvPr/>
          </p:nvSpPr>
          <p:spPr>
            <a:xfrm>
              <a:off x="3357563" y="1385888"/>
              <a:ext cx="10501312" cy="52720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1021377-BFFA-1038-F1C2-B2463ACCC978}"/>
                </a:ext>
              </a:extLst>
            </p:cNvPr>
            <p:cNvSpPr txBox="1"/>
            <p:nvPr/>
          </p:nvSpPr>
          <p:spPr>
            <a:xfrm>
              <a:off x="3866830" y="2816984"/>
              <a:ext cx="9565264" cy="15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When I arrived at ZSR Library in Feb 2025, I was the first Data Services Librarian, in the Digital Initiatives &amp; Scholarly Communication (DISC) department. One of my initial goals was to determine faculty research service needs. There are nearly 1,000 faculty members across 6 schools and 5 Arts &amp; Sciences divisions. The most effective way to reach them would be a comprehensive survey, with potential follow-up with individuals who opted in. I started designing a survey with the help of my department (Molly Keener and Kyle Denlinger).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2FB346-C9E0-209A-739D-320CB84CE0F0}"/>
                </a:ext>
              </a:extLst>
            </p:cNvPr>
            <p:cNvSpPr txBox="1"/>
            <p:nvPr/>
          </p:nvSpPr>
          <p:spPr>
            <a:xfrm>
              <a:off x="3879274" y="1715395"/>
              <a:ext cx="9484734" cy="518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Context and motivation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B3CED42-59EC-C7F1-8DD3-AAFA87FDF636}"/>
              </a:ext>
            </a:extLst>
          </p:cNvPr>
          <p:cNvSpPr txBox="1"/>
          <p:nvPr/>
        </p:nvSpPr>
        <p:spPr>
          <a:xfrm>
            <a:off x="3816405" y="22175821"/>
            <a:ext cx="6126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Establishing data services at ZSR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6BB1F6-8FCE-2740-107C-67C62B1A44BB}"/>
              </a:ext>
            </a:extLst>
          </p:cNvPr>
          <p:cNvSpPr txBox="1"/>
          <p:nvPr/>
        </p:nvSpPr>
        <p:spPr>
          <a:xfrm>
            <a:off x="3816405" y="25031701"/>
            <a:ext cx="7869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Building a communication plan for stakeholders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DE6049-2D4A-80D6-2F68-E2CB77CC5B50}"/>
              </a:ext>
            </a:extLst>
          </p:cNvPr>
          <p:cNvSpPr txBox="1"/>
          <p:nvPr/>
        </p:nvSpPr>
        <p:spPr>
          <a:xfrm>
            <a:off x="3816405" y="25554921"/>
            <a:ext cx="9565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determined three primary audiences to report to: </a:t>
            </a:r>
            <a:r>
              <a:rPr lang="en-US" sz="20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admin</a:t>
            </a: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(administrative council including directors and dean), </a:t>
            </a:r>
            <a:r>
              <a:rPr lang="en-US" sz="20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research support </a:t>
            </a: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(research/liaison librarians and provost’s office), and the </a:t>
            </a:r>
            <a:r>
              <a:rPr lang="en-US" sz="20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public</a:t>
            </a: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(WFU faculty, staff, students and readers of our blog). Each audience would receive a separate report and communication strategy.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0BBC96-138B-717E-E55F-6EDD840E17BF}"/>
              </a:ext>
            </a:extLst>
          </p:cNvPr>
          <p:cNvSpPr txBox="1"/>
          <p:nvPr/>
        </p:nvSpPr>
        <p:spPr>
          <a:xfrm>
            <a:off x="3816405" y="26964251"/>
            <a:ext cx="7869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Determining takeaways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62909B-BBDA-497C-88AD-E6D674DB40FA}"/>
              </a:ext>
            </a:extLst>
          </p:cNvPr>
          <p:cNvSpPr txBox="1"/>
          <p:nvPr/>
        </p:nvSpPr>
        <p:spPr>
          <a:xfrm>
            <a:off x="3816405" y="27427612"/>
            <a:ext cx="9565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goal for DISC was to discover high-level research support needs, so that we could act on the findings to prioritize service rollout for 2025 - 2026.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2FA814B8-032E-0985-5A7A-F6107F0DB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9749" y="882650"/>
            <a:ext cx="15702251" cy="97315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FB1B022E-23A9-4EC9-DE43-108D7A13F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082928"/>
              </p:ext>
            </p:extLst>
          </p:nvPr>
        </p:nvGraphicFramePr>
        <p:xfrm>
          <a:off x="14269749" y="11018006"/>
          <a:ext cx="15702251" cy="91081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70714">
                  <a:extLst>
                    <a:ext uri="{9D8B030D-6E8A-4147-A177-3AD203B41FA5}">
                      <a16:colId xmlns:a16="http://schemas.microsoft.com/office/drawing/2014/main" val="998554425"/>
                    </a:ext>
                  </a:extLst>
                </a:gridCol>
                <a:gridCol w="3553780">
                  <a:extLst>
                    <a:ext uri="{9D8B030D-6E8A-4147-A177-3AD203B41FA5}">
                      <a16:colId xmlns:a16="http://schemas.microsoft.com/office/drawing/2014/main" val="596989902"/>
                    </a:ext>
                  </a:extLst>
                </a:gridCol>
                <a:gridCol w="4840747">
                  <a:extLst>
                    <a:ext uri="{9D8B030D-6E8A-4147-A177-3AD203B41FA5}">
                      <a16:colId xmlns:a16="http://schemas.microsoft.com/office/drawing/2014/main" val="546619732"/>
                    </a:ext>
                  </a:extLst>
                </a:gridCol>
                <a:gridCol w="4637010">
                  <a:extLst>
                    <a:ext uri="{9D8B030D-6E8A-4147-A177-3AD203B41FA5}">
                      <a16:colId xmlns:a16="http://schemas.microsoft.com/office/drawing/2014/main" val="3379894037"/>
                    </a:ext>
                  </a:extLst>
                </a:gridCol>
              </a:tblGrid>
              <a:tr h="977147">
                <a:tc gridSpan="4">
                  <a:txBody>
                    <a:bodyPr/>
                    <a:lstStyle/>
                    <a:p>
                      <a:pPr marL="0" marR="0" lvl="0" indent="0" algn="ctr" defTabSz="3840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Report stakeholders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4000">
                        <a:solidFill>
                          <a:schemeClr val="bg1">
                            <a:lumMod val="95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sz="4000">
                        <a:solidFill>
                          <a:schemeClr val="bg1">
                            <a:lumMod val="95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sz="4000">
                        <a:solidFill>
                          <a:schemeClr val="bg1">
                            <a:lumMod val="95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1136649"/>
                  </a:ext>
                </a:extLst>
              </a:tr>
              <a:tr h="820748">
                <a:tc>
                  <a:txBody>
                    <a:bodyPr/>
                    <a:lstStyle/>
                    <a:p>
                      <a:pPr marL="91440"/>
                      <a:r>
                        <a:rPr lang="en-US" sz="4000" b="1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Group</a:t>
                      </a:r>
                      <a:endParaRPr lang="en-US" sz="4000" b="1" i="0">
                        <a:solidFill>
                          <a:schemeClr val="tx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4000" b="1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Roles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4000" b="1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Survey visibility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4000" b="1">
                          <a:solidFill>
                            <a:schemeClr val="tx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Comm strategy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564213"/>
                  </a:ext>
                </a:extLst>
              </a:tr>
              <a:tr h="2049916">
                <a:tc>
                  <a:txBody>
                    <a:bodyPr/>
                    <a:lstStyle/>
                    <a:p>
                      <a:pPr marL="91440"/>
                      <a:r>
                        <a:rPr lang="en-US" sz="36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Admin</a:t>
                      </a:r>
                      <a:endParaRPr lang="en-US" sz="3600" b="1" i="0">
                        <a:solidFill>
                          <a:schemeClr val="tx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Administrative council – library dean, directors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 b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All content</a:t>
                      </a:r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including non-aggregated responses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Led Admin Council meeting: shared results and recommendations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7381578"/>
                  </a:ext>
                </a:extLst>
              </a:tr>
              <a:tr h="2806637">
                <a:tc>
                  <a:txBody>
                    <a:bodyPr/>
                    <a:lstStyle/>
                    <a:p>
                      <a:pPr marL="91440"/>
                      <a:r>
                        <a:rPr lang="en-US" sz="3600" b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Research support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Liaison librarians, provost’s office, research services team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All aggregated content, “Other” free responses, </a:t>
                      </a:r>
                      <a:r>
                        <a:rPr lang="en-US" sz="3200" b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 qualitative open-ended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Made report available as HTML page, responded to email feedback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66819829"/>
                  </a:ext>
                </a:extLst>
              </a:tr>
              <a:tr h="2453746">
                <a:tc>
                  <a:txBody>
                    <a:bodyPr/>
                    <a:lstStyle/>
                    <a:p>
                      <a:pPr marL="91440"/>
                      <a:r>
                        <a:rPr lang="en-US" sz="3600" b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The public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Faculty, staff, students, blog readers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Only aggregated content, </a:t>
                      </a:r>
                      <a:r>
                        <a:rPr lang="en-US" sz="3200" b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 free response answers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sz="3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Wrote public blog post and created public GitHub repo with HTML and code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002566"/>
                  </a:ext>
                </a:extLst>
              </a:tr>
            </a:tbl>
          </a:graphicData>
        </a:graphic>
      </p:graphicFrame>
      <p:grpSp>
        <p:nvGrpSpPr>
          <p:cNvPr id="73" name="Group 72">
            <a:extLst>
              <a:ext uri="{FF2B5EF4-FFF2-40B4-BE49-F238E27FC236}">
                <a16:creationId xmlns:a16="http://schemas.microsoft.com/office/drawing/2014/main" id="{11FEE413-FAF4-21B3-93EC-E1B217DCDE0F}"/>
              </a:ext>
            </a:extLst>
          </p:cNvPr>
          <p:cNvGrpSpPr/>
          <p:nvPr/>
        </p:nvGrpSpPr>
        <p:grpSpPr>
          <a:xfrm>
            <a:off x="14269457" y="20573625"/>
            <a:ext cx="15702251" cy="7932107"/>
            <a:chOff x="3357563" y="1385888"/>
            <a:chExt cx="10501312" cy="527208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FD77B08-DBB9-B264-2283-BBEF5D64A67B}"/>
                </a:ext>
              </a:extLst>
            </p:cNvPr>
            <p:cNvSpPr/>
            <p:nvPr/>
          </p:nvSpPr>
          <p:spPr>
            <a:xfrm>
              <a:off x="3357563" y="1385888"/>
              <a:ext cx="10501312" cy="52720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91968D6-38E7-07A6-293A-41CC89D1F38E}"/>
                </a:ext>
              </a:extLst>
            </p:cNvPr>
            <p:cNvSpPr txBox="1"/>
            <p:nvPr/>
          </p:nvSpPr>
          <p:spPr>
            <a:xfrm>
              <a:off x="3869075" y="1789692"/>
              <a:ext cx="984585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Public repository for survey code and report</a:t>
              </a:r>
            </a:p>
            <a:p>
              <a:endParaRPr lang="en-US" sz="4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7E58F7-79F3-D6DC-2633-81D186C7BB73}"/>
              </a:ext>
            </a:extLst>
          </p:cNvPr>
          <p:cNvGrpSpPr/>
          <p:nvPr/>
        </p:nvGrpSpPr>
        <p:grpSpPr>
          <a:xfrm>
            <a:off x="14727968" y="22348357"/>
            <a:ext cx="4804807" cy="5763078"/>
            <a:chOff x="14941049" y="25458516"/>
            <a:chExt cx="3032898" cy="363777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AAE7F3-67AB-A233-30AC-7AF0F605EABA}"/>
                </a:ext>
              </a:extLst>
            </p:cNvPr>
            <p:cNvSpPr txBox="1"/>
            <p:nvPr/>
          </p:nvSpPr>
          <p:spPr>
            <a:xfrm>
              <a:off x="14941049" y="28573075"/>
              <a:ext cx="30328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>
                  <a:solidFill>
                    <a:schemeClr val="accent6">
                      <a:lumMod val="75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bit.ly/wfu-fs-gh</a:t>
              </a:r>
              <a:endParaRPr lang="en-US" sz="280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FAE91A6-233C-441B-21DD-AC96CEB73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41050" y="25458516"/>
              <a:ext cx="3032897" cy="3032897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84AEF928-073A-7B7A-676A-91E5FF79D8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37477" y="22370587"/>
            <a:ext cx="6455075" cy="147411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BC8244EF-9352-34E9-A71A-50372E1CA9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51186" y="24150338"/>
            <a:ext cx="9209322" cy="1104043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8EED7708-E682-F413-A2EB-0D00A20845D6}"/>
              </a:ext>
            </a:extLst>
          </p:cNvPr>
          <p:cNvSpPr txBox="1"/>
          <p:nvPr/>
        </p:nvSpPr>
        <p:spPr>
          <a:xfrm>
            <a:off x="20351183" y="25539532"/>
            <a:ext cx="91057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Public repository hosted on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Click the green </a:t>
            </a:r>
            <a:r>
              <a:rPr lang="en-US" sz="2800">
                <a:solidFill>
                  <a:schemeClr val="bg1"/>
                </a:solidFill>
                <a:highlight>
                  <a:srgbClr val="008000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&lt;&gt; Code </a:t>
            </a: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button to download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Poster presentation file is here</a:t>
            </a:r>
            <a:endParaRPr lang="en-US" sz="2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Report HTML file in </a:t>
            </a:r>
            <a:r>
              <a:rPr lang="en-US" sz="28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render </a:t>
            </a: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folder opens in browser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Link to public blog post in the Readme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99ECD8A-F70B-F79F-AFBF-671623061BEF}"/>
              </a:ext>
            </a:extLst>
          </p:cNvPr>
          <p:cNvSpPr/>
          <p:nvPr/>
        </p:nvSpPr>
        <p:spPr>
          <a:xfrm>
            <a:off x="30440024" y="882650"/>
            <a:ext cx="17506478" cy="2186886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F8F4"/>
              </a:solidFill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B1BB567C-BAAA-8A27-C38B-B8CBADF3F7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20361" y="2231266"/>
            <a:ext cx="8536663" cy="59132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A10E2E0D-EB16-14D0-D229-0D196EAAB2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95089" y="2255004"/>
            <a:ext cx="7842873" cy="5913200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06793B8-8A96-D428-1C8F-70FA70836DF5}"/>
              </a:ext>
            </a:extLst>
          </p:cNvPr>
          <p:cNvGrpSpPr/>
          <p:nvPr/>
        </p:nvGrpSpPr>
        <p:grpSpPr>
          <a:xfrm>
            <a:off x="30739018" y="8647673"/>
            <a:ext cx="8536663" cy="6271016"/>
            <a:chOff x="31166594" y="8082172"/>
            <a:chExt cx="7772400" cy="5709590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E90CE17B-50CF-C709-8568-93504F05A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66594" y="8082172"/>
              <a:ext cx="7772400" cy="428400"/>
            </a:xfrm>
            <a:prstGeom prst="rect">
              <a:avLst/>
            </a:prstGeom>
          </p:spPr>
        </p:pic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C9C410AD-29DE-DA2D-2D10-A5D923E06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1166594" y="8497672"/>
              <a:ext cx="7772400" cy="5294090"/>
            </a:xfrm>
            <a:prstGeom prst="rect">
              <a:avLst/>
            </a:prstGeom>
          </p:spPr>
        </p:pic>
      </p:grp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14A4CA5-323D-E8E9-8481-12119C69BB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833104" y="8632821"/>
            <a:ext cx="7772400" cy="45571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7E5DCD09-0E18-56C1-F1EF-C849E482BF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95090" y="9088531"/>
            <a:ext cx="8204412" cy="5765582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0DC528E-4AD6-2CB0-A8CE-3E8FAFFBF66F}"/>
              </a:ext>
            </a:extLst>
          </p:cNvPr>
          <p:cNvSpPr txBox="1"/>
          <p:nvPr/>
        </p:nvSpPr>
        <p:spPr>
          <a:xfrm>
            <a:off x="30739018" y="1307936"/>
            <a:ext cx="14184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survey question tables and charts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474AEC7-FED4-A919-C195-59D3CB2F1023}"/>
              </a:ext>
            </a:extLst>
          </p:cNvPr>
          <p:cNvGrpSpPr/>
          <p:nvPr/>
        </p:nvGrpSpPr>
        <p:grpSpPr>
          <a:xfrm>
            <a:off x="30405110" y="23233645"/>
            <a:ext cx="9189979" cy="5272087"/>
            <a:chOff x="3357563" y="1385888"/>
            <a:chExt cx="10501312" cy="5272087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B3F1752-2FEC-A330-5BE0-1C569ACB9C2B}"/>
                </a:ext>
              </a:extLst>
            </p:cNvPr>
            <p:cNvSpPr/>
            <p:nvPr/>
          </p:nvSpPr>
          <p:spPr>
            <a:xfrm>
              <a:off x="3357563" y="1385888"/>
              <a:ext cx="10501312" cy="527208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823D73F-041F-81CF-1924-44EE9B8FE0E9}"/>
                </a:ext>
              </a:extLst>
            </p:cNvPr>
            <p:cNvSpPr txBox="1"/>
            <p:nvPr/>
          </p:nvSpPr>
          <p:spPr>
            <a:xfrm>
              <a:off x="3869075" y="1789692"/>
              <a:ext cx="98458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Strategic impact and followup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4F068800-DC7C-5A12-7539-D36657C68EBC}"/>
              </a:ext>
            </a:extLst>
          </p:cNvPr>
          <p:cNvSpPr txBox="1"/>
          <p:nvPr/>
        </p:nvSpPr>
        <p:spPr>
          <a:xfrm>
            <a:off x="30709595" y="24531300"/>
            <a:ext cx="86163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Provided evidence-based strategy for the new library dean and library directors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Established baseline needs and scoped service for first year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Direction for growth: research support services (RDM, RIM)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Potential for detailed, semi-structured interview followups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Rerun survey every few years and compare results, stay up to date with trends in research fields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0EC4B0D-3FDA-CC32-9757-65839BCC8A0D}"/>
              </a:ext>
            </a:extLst>
          </p:cNvPr>
          <p:cNvSpPr txBox="1"/>
          <p:nvPr/>
        </p:nvSpPr>
        <p:spPr>
          <a:xfrm>
            <a:off x="40371157" y="24489792"/>
            <a:ext cx="729688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Coding took significant time and effort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Worth it for strategic planning and future surveys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 took almost 6 months – budget time to ensure success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Would have been helpful to have a plan for assessing service success one year on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Any ideas for how best to achieve this?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A6ECE5B-88F2-ACA1-4167-7BD961E71A67}"/>
              </a:ext>
            </a:extLst>
          </p:cNvPr>
          <p:cNvGrpSpPr/>
          <p:nvPr/>
        </p:nvGrpSpPr>
        <p:grpSpPr>
          <a:xfrm>
            <a:off x="37414793" y="15235286"/>
            <a:ext cx="10491195" cy="7137134"/>
            <a:chOff x="30620361" y="15201537"/>
            <a:chExt cx="10491195" cy="7137134"/>
          </a:xfrm>
        </p:grpSpPr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CEC7725E-4444-6555-AD0E-705CA6250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0620361" y="15905799"/>
              <a:ext cx="10491195" cy="6432872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05646192-5B6A-DDFE-297B-8EBA492E9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0739018" y="15201537"/>
              <a:ext cx="9904927" cy="688811"/>
            </a:xfrm>
            <a:prstGeom prst="rect">
              <a:avLst/>
            </a:prstGeom>
          </p:spPr>
        </p:pic>
      </p:grpSp>
      <p:pic>
        <p:nvPicPr>
          <p:cNvPr id="130" name="Picture 129">
            <a:extLst>
              <a:ext uri="{FF2B5EF4-FFF2-40B4-BE49-F238E27FC236}">
                <a16:creationId xmlns:a16="http://schemas.microsoft.com/office/drawing/2014/main" id="{9C93985B-C69A-5886-70E9-D92C4FD7EAA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739018" y="16543257"/>
            <a:ext cx="6572730" cy="457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FU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9E7D37"/>
      </a:accent1>
      <a:accent2>
        <a:srgbClr val="53575B"/>
      </a:accent2>
      <a:accent3>
        <a:srgbClr val="FCC214"/>
      </a:accent3>
      <a:accent4>
        <a:srgbClr val="CEB988"/>
      </a:accent4>
      <a:accent5>
        <a:srgbClr val="722A98"/>
      </a:accent5>
      <a:accent6>
        <a:srgbClr val="22A487"/>
      </a:accent6>
      <a:hlink>
        <a:srgbClr val="67B0C7"/>
      </a:hlink>
      <a:folHlink>
        <a:srgbClr val="BF7AA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4337</TotalTime>
  <Words>814</Words>
  <Application>Microsoft Macintosh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Marchesoni, Joddy</dc:creator>
  <cp:lastModifiedBy>Marchesoni, Joddy</cp:lastModifiedBy>
  <cp:revision>8</cp:revision>
  <dcterms:created xsi:type="dcterms:W3CDTF">2026-10-05T20:49:22Z</dcterms:created>
  <dcterms:modified xsi:type="dcterms:W3CDTF">2026-10-08T21:07:00Z</dcterms:modified>
</cp:coreProperties>
</file>